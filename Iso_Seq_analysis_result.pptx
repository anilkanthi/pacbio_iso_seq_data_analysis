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79" r:id="rId2"/>
    <p:sldId id="280" r:id="rId3"/>
    <p:sldId id="285" r:id="rId4"/>
    <p:sldId id="294" r:id="rId5"/>
    <p:sldId id="289" r:id="rId6"/>
    <p:sldId id="295" r:id="rId7"/>
    <p:sldId id="28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43"/>
  </p:normalViewPr>
  <p:slideViewPr>
    <p:cSldViewPr snapToGrid="0" snapToObjects="1">
      <p:cViewPr varScale="1">
        <p:scale>
          <a:sx n="121" d="100"/>
          <a:sy n="121" d="100"/>
        </p:scale>
        <p:origin x="200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kantha01/Desktop/PacBio_run/SQANTI3_Reports/ALL_Parameters/Combined_All/FSM_ISM_NIC_NNC_data_plotting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kantha01/Desktop/PacBio_run/Alignment_summary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kantha01/Desktop/PacBio_run/SQANTI3_Reports/ALL_Parameters/Combined_All/FSM_ISM_NIC_NNC_data_plotting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US" sz="1800" b="1" i="0" baseline="0" dirty="0">
                <a:solidFill>
                  <a:sysClr val="windowText" lastClr="000000"/>
                </a:solidFill>
                <a:effectLst/>
              </a:rPr>
              <a:t>Genome-wide characterization of isoforms – HQ data</a:t>
            </a:r>
            <a:endParaRPr lang="en-US" dirty="0">
              <a:solidFill>
                <a:sysClr val="windowText" lastClr="000000"/>
              </a:solidFill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Combined_All_categories!$I$2</c:f>
              <c:strCache>
                <c:ptCount val="1"/>
                <c:pt idx="0">
                  <c:v>FSM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Combined_All_categories!$H$3:$H$6</c:f>
              <c:strCache>
                <c:ptCount val="4"/>
                <c:pt idx="0">
                  <c:v>ParRep 10-230</c:v>
                </c:pt>
                <c:pt idx="1">
                  <c:v>Hem-A</c:v>
                </c:pt>
                <c:pt idx="2">
                  <c:v>Skmel 239</c:v>
                </c:pt>
                <c:pt idx="3">
                  <c:v>hTESE</c:v>
                </c:pt>
              </c:strCache>
            </c:strRef>
          </c:cat>
          <c:val>
            <c:numRef>
              <c:f>Combined_All_categories!$I$3:$I$6</c:f>
              <c:numCache>
                <c:formatCode>0.00%</c:formatCode>
                <c:ptCount val="4"/>
                <c:pt idx="0">
                  <c:v>0.42509999999999998</c:v>
                </c:pt>
                <c:pt idx="1">
                  <c:v>0.4526</c:v>
                </c:pt>
                <c:pt idx="2">
                  <c:v>0.43130000000000002</c:v>
                </c:pt>
                <c:pt idx="3">
                  <c:v>0.3352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5F-254F-A0E1-E21E70678697}"/>
            </c:ext>
          </c:extLst>
        </c:ser>
        <c:ser>
          <c:idx val="1"/>
          <c:order val="1"/>
          <c:tx>
            <c:strRef>
              <c:f>Combined_All_categories!$J$2</c:f>
              <c:strCache>
                <c:ptCount val="1"/>
                <c:pt idx="0">
                  <c:v>ISM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Combined_All_categories!$H$3:$H$6</c:f>
              <c:strCache>
                <c:ptCount val="4"/>
                <c:pt idx="0">
                  <c:v>ParRep 10-230</c:v>
                </c:pt>
                <c:pt idx="1">
                  <c:v>Hem-A</c:v>
                </c:pt>
                <c:pt idx="2">
                  <c:v>Skmel 239</c:v>
                </c:pt>
                <c:pt idx="3">
                  <c:v>hTESE</c:v>
                </c:pt>
              </c:strCache>
            </c:strRef>
          </c:cat>
          <c:val>
            <c:numRef>
              <c:f>Combined_All_categories!$J$3:$J$6</c:f>
              <c:numCache>
                <c:formatCode>0.00%</c:formatCode>
                <c:ptCount val="4"/>
                <c:pt idx="0">
                  <c:v>0.14030000000000001</c:v>
                </c:pt>
                <c:pt idx="1">
                  <c:v>0.32319999999999999</c:v>
                </c:pt>
                <c:pt idx="2">
                  <c:v>0.17960000000000001</c:v>
                </c:pt>
                <c:pt idx="3">
                  <c:v>0.1171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F5F-254F-A0E1-E21E70678697}"/>
            </c:ext>
          </c:extLst>
        </c:ser>
        <c:ser>
          <c:idx val="2"/>
          <c:order val="2"/>
          <c:tx>
            <c:strRef>
              <c:f>Combined_All_categories!$K$2</c:f>
              <c:strCache>
                <c:ptCount val="1"/>
                <c:pt idx="0">
                  <c:v>NIC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Combined_All_categories!$H$3:$H$6</c:f>
              <c:strCache>
                <c:ptCount val="4"/>
                <c:pt idx="0">
                  <c:v>ParRep 10-230</c:v>
                </c:pt>
                <c:pt idx="1">
                  <c:v>Hem-A</c:v>
                </c:pt>
                <c:pt idx="2">
                  <c:v>Skmel 239</c:v>
                </c:pt>
                <c:pt idx="3">
                  <c:v>hTESE</c:v>
                </c:pt>
              </c:strCache>
            </c:strRef>
          </c:cat>
          <c:val>
            <c:numRef>
              <c:f>Combined_All_categories!$K$3:$K$6</c:f>
              <c:numCache>
                <c:formatCode>0.00%</c:formatCode>
                <c:ptCount val="4"/>
                <c:pt idx="0">
                  <c:v>0.247</c:v>
                </c:pt>
                <c:pt idx="1">
                  <c:v>0.1182</c:v>
                </c:pt>
                <c:pt idx="2">
                  <c:v>0.21829999999999999</c:v>
                </c:pt>
                <c:pt idx="3">
                  <c:v>0.25790000000000002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F5F-254F-A0E1-E21E70678697}"/>
            </c:ext>
          </c:extLst>
        </c:ser>
        <c:ser>
          <c:idx val="3"/>
          <c:order val="3"/>
          <c:tx>
            <c:strRef>
              <c:f>Combined_All_categories!$L$2</c:f>
              <c:strCache>
                <c:ptCount val="1"/>
                <c:pt idx="0">
                  <c:v>NNC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Combined_All_categories!$H$3:$H$6</c:f>
              <c:strCache>
                <c:ptCount val="4"/>
                <c:pt idx="0">
                  <c:v>ParRep 10-230</c:v>
                </c:pt>
                <c:pt idx="1">
                  <c:v>Hem-A</c:v>
                </c:pt>
                <c:pt idx="2">
                  <c:v>Skmel 239</c:v>
                </c:pt>
                <c:pt idx="3">
                  <c:v>hTESE</c:v>
                </c:pt>
              </c:strCache>
            </c:strRef>
          </c:cat>
          <c:val>
            <c:numRef>
              <c:f>Combined_All_categories!$L$3:$L$6</c:f>
              <c:numCache>
                <c:formatCode>0.00%</c:formatCode>
                <c:ptCount val="4"/>
                <c:pt idx="0">
                  <c:v>0.1492</c:v>
                </c:pt>
                <c:pt idx="1">
                  <c:v>8.2699999999999996E-2</c:v>
                </c:pt>
                <c:pt idx="2">
                  <c:v>0.14169999999999999</c:v>
                </c:pt>
                <c:pt idx="3">
                  <c:v>0.21590000000000001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F5F-254F-A0E1-E21E70678697}"/>
            </c:ext>
          </c:extLst>
        </c:ser>
        <c:ser>
          <c:idx val="4"/>
          <c:order val="4"/>
          <c:tx>
            <c:strRef>
              <c:f>Combined_All_categories!$M$2</c:f>
              <c:strCache>
                <c:ptCount val="1"/>
                <c:pt idx="0">
                  <c:v>Genic Genomic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Combined_All_categories!$H$3:$H$6</c:f>
              <c:strCache>
                <c:ptCount val="4"/>
                <c:pt idx="0">
                  <c:v>ParRep 10-230</c:v>
                </c:pt>
                <c:pt idx="1">
                  <c:v>Hem-A</c:v>
                </c:pt>
                <c:pt idx="2">
                  <c:v>Skmel 239</c:v>
                </c:pt>
                <c:pt idx="3">
                  <c:v>hTESE</c:v>
                </c:pt>
              </c:strCache>
            </c:strRef>
          </c:cat>
          <c:val>
            <c:numRef>
              <c:f>Combined_All_categories!$M$3:$M$6</c:f>
              <c:numCache>
                <c:formatCode>0.00%</c:formatCode>
                <c:ptCount val="4"/>
                <c:pt idx="0">
                  <c:v>6.3E-3</c:v>
                </c:pt>
                <c:pt idx="1">
                  <c:v>3.3999999999999998E-3</c:v>
                </c:pt>
                <c:pt idx="2">
                  <c:v>3.0000000000000001E-3</c:v>
                </c:pt>
                <c:pt idx="3">
                  <c:v>1.37E-2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F5F-254F-A0E1-E21E70678697}"/>
            </c:ext>
          </c:extLst>
        </c:ser>
        <c:ser>
          <c:idx val="5"/>
          <c:order val="5"/>
          <c:tx>
            <c:strRef>
              <c:f>Combined_All_categories!$N$2</c:f>
              <c:strCache>
                <c:ptCount val="1"/>
                <c:pt idx="0">
                  <c:v>Anitsense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Combined_All_categories!$H$3:$H$6</c:f>
              <c:strCache>
                <c:ptCount val="4"/>
                <c:pt idx="0">
                  <c:v>ParRep 10-230</c:v>
                </c:pt>
                <c:pt idx="1">
                  <c:v>Hem-A</c:v>
                </c:pt>
                <c:pt idx="2">
                  <c:v>Skmel 239</c:v>
                </c:pt>
                <c:pt idx="3">
                  <c:v>hTESE</c:v>
                </c:pt>
              </c:strCache>
            </c:strRef>
          </c:cat>
          <c:val>
            <c:numRef>
              <c:f>Combined_All_categories!$N$3:$N$6</c:f>
              <c:numCache>
                <c:formatCode>0.00%</c:formatCode>
                <c:ptCount val="4"/>
                <c:pt idx="0">
                  <c:v>1.89E-2</c:v>
                </c:pt>
                <c:pt idx="1">
                  <c:v>1.5699999999999999E-2</c:v>
                </c:pt>
                <c:pt idx="2">
                  <c:v>1.7000000000000001E-2</c:v>
                </c:pt>
                <c:pt idx="3">
                  <c:v>3.0599999999999999E-2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AF5F-254F-A0E1-E21E70678697}"/>
            </c:ext>
          </c:extLst>
        </c:ser>
        <c:ser>
          <c:idx val="6"/>
          <c:order val="6"/>
          <c:tx>
            <c:strRef>
              <c:f>Combined_All_categories!$O$2</c:f>
              <c:strCache>
                <c:ptCount val="1"/>
                <c:pt idx="0">
                  <c:v>Fusion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Combined_All_categories!$H$3:$H$6</c:f>
              <c:strCache>
                <c:ptCount val="4"/>
                <c:pt idx="0">
                  <c:v>ParRep 10-230</c:v>
                </c:pt>
                <c:pt idx="1">
                  <c:v>Hem-A</c:v>
                </c:pt>
                <c:pt idx="2">
                  <c:v>Skmel 239</c:v>
                </c:pt>
                <c:pt idx="3">
                  <c:v>hTESE</c:v>
                </c:pt>
              </c:strCache>
            </c:strRef>
          </c:cat>
          <c:val>
            <c:numRef>
              <c:f>Combined_All_categories!$O$3:$O$6</c:f>
              <c:numCache>
                <c:formatCode>0.00%</c:formatCode>
                <c:ptCount val="4"/>
                <c:pt idx="0">
                  <c:v>3.8999999999999998E-3</c:v>
                </c:pt>
                <c:pt idx="1">
                  <c:v>1.6000000000000001E-3</c:v>
                </c:pt>
                <c:pt idx="2">
                  <c:v>4.3E-3</c:v>
                </c:pt>
                <c:pt idx="3">
                  <c:v>1.0699999999999999E-2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F5F-254F-A0E1-E21E70678697}"/>
            </c:ext>
          </c:extLst>
        </c:ser>
        <c:ser>
          <c:idx val="7"/>
          <c:order val="7"/>
          <c:tx>
            <c:strRef>
              <c:f>Combined_All_categories!$P$2</c:f>
              <c:strCache>
                <c:ptCount val="1"/>
                <c:pt idx="0">
                  <c:v>Intergenic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Combined_All_categories!$H$3:$H$6</c:f>
              <c:strCache>
                <c:ptCount val="4"/>
                <c:pt idx="0">
                  <c:v>ParRep 10-230</c:v>
                </c:pt>
                <c:pt idx="1">
                  <c:v>Hem-A</c:v>
                </c:pt>
                <c:pt idx="2">
                  <c:v>Skmel 239</c:v>
                </c:pt>
                <c:pt idx="3">
                  <c:v>hTESE</c:v>
                </c:pt>
              </c:strCache>
            </c:strRef>
          </c:cat>
          <c:val>
            <c:numRef>
              <c:f>Combined_All_categories!$P$3:$P$6</c:f>
              <c:numCache>
                <c:formatCode>0.00%</c:formatCode>
                <c:ptCount val="4"/>
                <c:pt idx="0">
                  <c:v>9.2999999999999992E-3</c:v>
                </c:pt>
                <c:pt idx="1">
                  <c:v>2.5999999999999999E-3</c:v>
                </c:pt>
                <c:pt idx="2">
                  <c:v>4.7999999999999996E-3</c:v>
                </c:pt>
                <c:pt idx="3">
                  <c:v>1.89E-2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AF5F-254F-A0E1-E21E70678697}"/>
            </c:ext>
          </c:extLst>
        </c:ser>
        <c:ser>
          <c:idx val="8"/>
          <c:order val="8"/>
          <c:tx>
            <c:strRef>
              <c:f>Combined_All_categories!$Q$2</c:f>
              <c:strCache>
                <c:ptCount val="1"/>
                <c:pt idx="0">
                  <c:v>Genic Intronic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Combined_All_categories!$H$3:$H$6</c:f>
              <c:strCache>
                <c:ptCount val="4"/>
                <c:pt idx="0">
                  <c:v>ParRep 10-230</c:v>
                </c:pt>
                <c:pt idx="1">
                  <c:v>Hem-A</c:v>
                </c:pt>
                <c:pt idx="2">
                  <c:v>Skmel 239</c:v>
                </c:pt>
                <c:pt idx="3">
                  <c:v>hTESE</c:v>
                </c:pt>
              </c:strCache>
            </c:strRef>
          </c:cat>
          <c:val>
            <c:numRef>
              <c:f>Combined_All_categories!$Q$3:$Q$6</c:f>
              <c:numCache>
                <c:formatCode>0%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F5F-254F-A0E1-E21E706786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287842736"/>
        <c:axId val="1368168640"/>
      </c:barChart>
      <c:catAx>
        <c:axId val="12878427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68168640"/>
        <c:crosses val="autoZero"/>
        <c:auto val="1"/>
        <c:lblAlgn val="ctr"/>
        <c:lblOffset val="100"/>
        <c:noMultiLvlLbl val="0"/>
      </c:catAx>
      <c:valAx>
        <c:axId val="13681686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800" b="1">
                    <a:solidFill>
                      <a:sysClr val="windowText" lastClr="000000"/>
                    </a:solidFill>
                  </a:rPr>
                  <a:t>% of Isoforms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7842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000" b="1">
                <a:solidFill>
                  <a:sysClr val="windowText" lastClr="000000"/>
                </a:solidFill>
              </a:rPr>
              <a:t>CTCFL Gene:</a:t>
            </a:r>
            <a:r>
              <a:rPr lang="en-US" sz="2000" b="1" baseline="0">
                <a:solidFill>
                  <a:sysClr val="windowText" lastClr="000000"/>
                </a:solidFill>
              </a:rPr>
              <a:t> HQ-LQ-Singletons</a:t>
            </a:r>
            <a:endParaRPr lang="en-US" sz="2000" b="1">
              <a:solidFill>
                <a:sysClr val="windowText" lastClr="00000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Sheet3!$B$1</c:f>
              <c:strCache>
                <c:ptCount val="1"/>
                <c:pt idx="0">
                  <c:v>HQ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Sheet3!$A$2:$A$5</c:f>
              <c:strCache>
                <c:ptCount val="4"/>
                <c:pt idx="0">
                  <c:v>ParRep 10-230</c:v>
                </c:pt>
                <c:pt idx="1">
                  <c:v>Hem-A</c:v>
                </c:pt>
                <c:pt idx="2">
                  <c:v>Skmel 239</c:v>
                </c:pt>
                <c:pt idx="3">
                  <c:v>hTESE</c:v>
                </c:pt>
              </c:strCache>
            </c:strRef>
          </c:cat>
          <c:val>
            <c:numRef>
              <c:f>Sheet3!$B$2:$B$5</c:f>
              <c:numCache>
                <c:formatCode>General</c:formatCode>
                <c:ptCount val="4"/>
                <c:pt idx="0">
                  <c:v>1</c:v>
                </c:pt>
                <c:pt idx="1">
                  <c:v>0</c:v>
                </c:pt>
                <c:pt idx="2">
                  <c:v>1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A5-CB4D-AC2A-E385F6462AC9}"/>
            </c:ext>
          </c:extLst>
        </c:ser>
        <c:ser>
          <c:idx val="1"/>
          <c:order val="1"/>
          <c:tx>
            <c:strRef>
              <c:f>Sheet3!$C$1</c:f>
              <c:strCache>
                <c:ptCount val="1"/>
                <c:pt idx="0">
                  <c:v>LQ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Sheet3!$A$2:$A$5</c:f>
              <c:strCache>
                <c:ptCount val="4"/>
                <c:pt idx="0">
                  <c:v>ParRep 10-230</c:v>
                </c:pt>
                <c:pt idx="1">
                  <c:v>Hem-A</c:v>
                </c:pt>
                <c:pt idx="2">
                  <c:v>Skmel 239</c:v>
                </c:pt>
                <c:pt idx="3">
                  <c:v>hTESE</c:v>
                </c:pt>
              </c:strCache>
            </c:strRef>
          </c:cat>
          <c:val>
            <c:numRef>
              <c:f>Sheet3!$C$2:$C$5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8A5-CB4D-AC2A-E385F6462AC9}"/>
            </c:ext>
          </c:extLst>
        </c:ser>
        <c:ser>
          <c:idx val="2"/>
          <c:order val="2"/>
          <c:tx>
            <c:strRef>
              <c:f>Sheet3!$D$1</c:f>
              <c:strCache>
                <c:ptCount val="1"/>
                <c:pt idx="0">
                  <c:v>Singleton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Sheet3!$A$2:$A$5</c:f>
              <c:strCache>
                <c:ptCount val="4"/>
                <c:pt idx="0">
                  <c:v>ParRep 10-230</c:v>
                </c:pt>
                <c:pt idx="1">
                  <c:v>Hem-A</c:v>
                </c:pt>
                <c:pt idx="2">
                  <c:v>Skmel 239</c:v>
                </c:pt>
                <c:pt idx="3">
                  <c:v>hTESE</c:v>
                </c:pt>
              </c:strCache>
            </c:strRef>
          </c:cat>
          <c:val>
            <c:numRef>
              <c:f>Sheet3!$D$2:$D$5</c:f>
              <c:numCache>
                <c:formatCode>General</c:formatCode>
                <c:ptCount val="4"/>
                <c:pt idx="0">
                  <c:v>3</c:v>
                </c:pt>
                <c:pt idx="1">
                  <c:v>0</c:v>
                </c:pt>
                <c:pt idx="2">
                  <c:v>0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8A5-CB4D-AC2A-E385F6462A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34102912"/>
        <c:axId val="1034104592"/>
      </c:barChart>
      <c:catAx>
        <c:axId val="10341029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4104592"/>
        <c:crosses val="autoZero"/>
        <c:auto val="1"/>
        <c:lblAlgn val="ctr"/>
        <c:lblOffset val="100"/>
        <c:noMultiLvlLbl val="0"/>
      </c:catAx>
      <c:valAx>
        <c:axId val="10341045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 b="1" dirty="0">
                    <a:solidFill>
                      <a:sysClr val="windowText" lastClr="000000"/>
                    </a:solidFill>
                  </a:rPr>
                  <a:t>Number of Collapsed</a:t>
                </a:r>
                <a:r>
                  <a:rPr lang="en-US" sz="2000" b="1" baseline="0" dirty="0">
                    <a:solidFill>
                      <a:sysClr val="windowText" lastClr="000000"/>
                    </a:solidFill>
                  </a:rPr>
                  <a:t> Isoforms</a:t>
                </a:r>
                <a:endParaRPr lang="en-US" sz="2000" b="1" dirty="0">
                  <a:solidFill>
                    <a:sysClr val="windowText" lastClr="000000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4102912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US" sz="1800" b="1" dirty="0">
                <a:solidFill>
                  <a:sysClr val="windowText" lastClr="000000"/>
                </a:solidFill>
              </a:rPr>
              <a:t>CTCFL Isoform Distribution Across Samples - </a:t>
            </a:r>
            <a:r>
              <a:rPr lang="en-US" sz="1800" b="1" i="0" u="none" strike="noStrike" baseline="0" dirty="0">
                <a:effectLst/>
              </a:rPr>
              <a:t>HQ data</a:t>
            </a:r>
            <a:r>
              <a:rPr lang="en-US" sz="1800" b="1" i="0" u="none" strike="noStrike" baseline="0" dirty="0"/>
              <a:t> </a:t>
            </a:r>
            <a:endParaRPr lang="en-US" sz="1800" b="1" dirty="0">
              <a:solidFill>
                <a:sysClr val="windowText" lastClr="00000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Isoform_Distribution!$B$1</c:f>
              <c:strCache>
                <c:ptCount val="1"/>
                <c:pt idx="0">
                  <c:v>FSM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Isoform_Distribution!$A$2:$A$5</c:f>
              <c:strCache>
                <c:ptCount val="4"/>
                <c:pt idx="0">
                  <c:v>ParRep 10-230</c:v>
                </c:pt>
                <c:pt idx="1">
                  <c:v>Hem-A</c:v>
                </c:pt>
                <c:pt idx="2">
                  <c:v>Skmel 239</c:v>
                </c:pt>
                <c:pt idx="3">
                  <c:v>hTESE</c:v>
                </c:pt>
              </c:strCache>
            </c:strRef>
          </c:cat>
          <c:val>
            <c:numRef>
              <c:f>Isoform_Distribution!$B$2:$B$5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19-4D4E-83E0-D62AF31087CB}"/>
            </c:ext>
          </c:extLst>
        </c:ser>
        <c:ser>
          <c:idx val="1"/>
          <c:order val="1"/>
          <c:tx>
            <c:strRef>
              <c:f>Isoform_Distribution!$C$1</c:f>
              <c:strCache>
                <c:ptCount val="1"/>
                <c:pt idx="0">
                  <c:v>NNC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Isoform_Distribution!$A$2:$A$5</c:f>
              <c:strCache>
                <c:ptCount val="4"/>
                <c:pt idx="0">
                  <c:v>ParRep 10-230</c:v>
                </c:pt>
                <c:pt idx="1">
                  <c:v>Hem-A</c:v>
                </c:pt>
                <c:pt idx="2">
                  <c:v>Skmel 239</c:v>
                </c:pt>
                <c:pt idx="3">
                  <c:v>hTESE</c:v>
                </c:pt>
              </c:strCache>
            </c:strRef>
          </c:cat>
          <c:val>
            <c:numRef>
              <c:f>Isoform_Distribution!$C$2:$C$5</c:f>
              <c:numCache>
                <c:formatCode>General</c:formatCode>
                <c:ptCount val="4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619-4D4E-83E0-D62AF31087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1365216960"/>
        <c:axId val="1368473776"/>
      </c:barChart>
      <c:catAx>
        <c:axId val="136521696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68473776"/>
        <c:crosses val="autoZero"/>
        <c:auto val="1"/>
        <c:lblAlgn val="ctr"/>
        <c:lblOffset val="100"/>
        <c:noMultiLvlLbl val="0"/>
      </c:catAx>
      <c:valAx>
        <c:axId val="136847377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65216960"/>
        <c:crosses val="autoZero"/>
        <c:crossBetween val="between"/>
        <c:majorUnit val="1"/>
        <c:minorUnit val="1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96D5D9-9466-CC41-A9C5-6B4146F68E96}" type="datetimeFigureOut">
              <a:rPr lang="en-US" smtClean="0"/>
              <a:t>7/22/20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2B137-19D0-DF47-A774-341A19AEC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107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B052E-1126-7D44-A8D6-6D43B44CB2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41ED20-C192-C547-A97B-1A4FFE9DD0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15518-15CC-9245-95AD-3BB345306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2E3B9-AAB5-4841-A339-3CA1505EDA57}" type="datetime1">
              <a:rPr lang="en-US" smtClean="0"/>
              <a:t>7/22/20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AB10A-4945-8A48-BE47-E3DD4E55D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7C088-955D-6846-B931-DEF44930B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202E5-5B4C-784C-B39F-D22B6F415C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927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756B4-3216-5547-B2C5-46D51688C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98084-5877-E145-BA23-83D71AC69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AA328-6C68-284F-8B80-BC94A65E7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7A826-740C-664E-9422-6D25A546A2CC}" type="datetime1">
              <a:rPr lang="en-US" smtClean="0"/>
              <a:t>7/22/20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6D595-469B-B74E-91D2-EC28E29A7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9DE68-2294-3646-A81F-62E00BA7A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202E5-5B4C-784C-B39F-D22B6F415C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063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82652-6CE0-D645-8E67-665EF4177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8809B6-1223-A44A-8766-5D4609F790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15CE4-2BAF-CD40-9673-58CE92D7E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5FF46-A1C4-6740-A38F-1F27112DB904}" type="datetime1">
              <a:rPr lang="en-US" smtClean="0"/>
              <a:t>7/22/20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38BD6-0132-C24F-BF1E-4CEDA8E9F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6BFB7-9EE6-9F4E-9AE7-3C209B76B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202E5-5B4C-784C-B39F-D22B6F415C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74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5CF17-90ED-0843-B27C-05ACACB18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FDB5D-6EAF-054E-A590-75D0994506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942207-775B-3540-98BF-6E8BE10F0A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DCBCFD-DFAE-E241-98D8-6E6452D92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6E543-5701-B94A-A836-9166E117A9E2}" type="datetime1">
              <a:rPr lang="en-US" smtClean="0"/>
              <a:t>7/22/20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E7B55A-F5CF-EE4B-844B-FE1604C90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B4ACCF-8CBB-C544-9D90-526975FE1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202E5-5B4C-784C-B39F-D22B6F415C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924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37BBB-865A-9843-9C43-9D9BAD5F2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322A0-BF2C-C645-8161-7B0EDCDF33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40C5B-CD9B-F34E-9A71-7C0EA58D7E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44E22D-C626-AA44-91CF-E39AB4280A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918EA2-1C5E-9A4E-9844-7F26C94E28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523489-0A91-F74D-B72E-FC42D1CF5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16FAE-F1EC-C44D-8C15-88918B2E41CB}" type="datetime1">
              <a:rPr lang="en-US" smtClean="0"/>
              <a:t>7/22/20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909E38-FBE9-4B4F-A719-65C6D907B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8EDD61-CC5F-CA49-9E43-DC2F03CC0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202E5-5B4C-784C-B39F-D22B6F415C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832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73A4B-5944-5849-A29D-5B469CBAB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664F31-BEBA-6440-B624-71965EBDE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044E6-23A7-6B4F-8AE3-C2ED66EE761A}" type="datetime1">
              <a:rPr lang="en-US" smtClean="0"/>
              <a:t>7/22/20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A3C6C5-CEC0-3542-B738-1BAB9EEDD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E53AFE-BB7F-1842-A2D9-E1F22BE60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202E5-5B4C-784C-B39F-D22B6F415C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662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DD2D42-3052-1D4E-A248-28927A26F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EFE12-AA7E-2A42-8F8E-212C9C4B688A}" type="datetime1">
              <a:rPr lang="en-US" smtClean="0"/>
              <a:t>7/22/20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99A710-0F25-C241-A420-3C4E7FCCE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2B2EE6-27AA-764D-8B22-9934316D5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202E5-5B4C-784C-B39F-D22B6F415C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618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0682D-B754-0244-AA43-294142763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47218-9D85-3E49-A7D7-76893C0D8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CC8860-5238-3949-8082-77A34B7A94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C1BB9A-C018-ED49-90FB-F77A5321F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65E32-8479-3D49-878F-BD0187DC68D1}" type="datetime1">
              <a:rPr lang="en-US" smtClean="0"/>
              <a:t>7/22/20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57EE70-B304-EF42-82DD-1FEBF4A11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8FC1D4-9E25-9A4F-8BDA-E0BC38F46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202E5-5B4C-784C-B39F-D22B6F415C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940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82864-A048-5343-8C06-6D9CD934F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E298E1-F0EE-5C4D-B4AD-4E935859FD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6FECBB-43D4-9645-9180-C786CEE6AF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FB0B7F-844C-FB4B-8239-23D71182F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8DF20-0EE8-9042-BBAF-794552C59F49}" type="datetime1">
              <a:rPr lang="en-US" smtClean="0"/>
              <a:t>7/22/20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AF0AF4-B16B-134A-8F21-1DE8CB745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9F7BD6-709A-E746-9493-D2CEA5C45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202E5-5B4C-784C-B39F-D22B6F415C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700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7D6E9-D937-A342-BF59-B2CA9E145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F3A499-3AD3-BD46-8D57-CA5F4F8D44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D34D1C-BA19-5D42-85BB-DB8F87ACB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92C1B-8145-9145-BCA2-46FA8745B986}" type="datetime1">
              <a:rPr lang="en-US" smtClean="0"/>
              <a:t>7/22/20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8A73A1-9269-1048-873F-03582E594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2EDCC-2140-9C4B-9163-E64F5CA3A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202E5-5B4C-784C-B39F-D22B6F415C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939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C450A1-56AD-A14F-9F5B-06FE9248A2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70FA4A-FD62-0747-BB5D-6A922232E1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A9684-472C-B14A-9024-91CFC4771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3ED1-E92D-834D-9479-462D3D360E73}" type="datetime1">
              <a:rPr lang="en-US" smtClean="0"/>
              <a:t>7/22/20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CA085-9746-DE40-8C7B-F07FF1B9D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53D16-58DA-0441-837B-9A9D4AD8D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202E5-5B4C-784C-B39F-D22B6F415C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45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B14684-5356-184D-834E-77887C80E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EC675A-5238-D944-AC02-45EDEC639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3D4CA-A910-164D-B66C-993D1148A1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D6A726-16D9-9B46-95FF-63C7611F4FEA}" type="datetime1">
              <a:rPr lang="en-US" smtClean="0"/>
              <a:t>7/22/20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02D84-AD96-4543-A2F0-759626BD4B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F6A02-3038-0240-A59A-8019310594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202E5-5B4C-784C-B39F-D22B6F415C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621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FE348B5-DF3F-454E-9D96-8B7CBA9EEE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39434292"/>
              </p:ext>
            </p:extLst>
          </p:nvPr>
        </p:nvGraphicFramePr>
        <p:xfrm>
          <a:off x="984262" y="283461"/>
          <a:ext cx="10073599" cy="60728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28637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6DAD991-64A8-224C-8A47-CEEE3DF759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9858331"/>
              </p:ext>
            </p:extLst>
          </p:nvPr>
        </p:nvGraphicFramePr>
        <p:xfrm>
          <a:off x="885825" y="311150"/>
          <a:ext cx="10420350" cy="6235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787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01AA5EE-5AB8-154D-B0EA-AA4039ED1303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850066" y="209550"/>
          <a:ext cx="10236200" cy="614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70032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3D03602-A0E1-1249-A0E3-53AE8ED2D78B}"/>
              </a:ext>
            </a:extLst>
          </p:cNvPr>
          <p:cNvSpPr/>
          <p:nvPr/>
        </p:nvSpPr>
        <p:spPr>
          <a:xfrm>
            <a:off x="11472380" y="3947590"/>
            <a:ext cx="51167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</a:rPr>
              <a:t>NNC</a:t>
            </a:r>
            <a:endParaRPr lang="en-US" sz="1400" dirty="0">
              <a:solidFill>
                <a:srgbClr val="000000"/>
              </a:solidFill>
              <a:effectLst/>
            </a:endParaRPr>
          </a:p>
        </p:txBody>
      </p:sp>
      <p:sp>
        <p:nvSpPr>
          <p:cNvPr id="10" name="Left Bracket 9">
            <a:extLst>
              <a:ext uri="{FF2B5EF4-FFF2-40B4-BE49-F238E27FC236}">
                <a16:creationId xmlns:a16="http://schemas.microsoft.com/office/drawing/2014/main" id="{AACDBCF8-0B36-444C-B58F-7403B4E9FB5A}"/>
              </a:ext>
            </a:extLst>
          </p:cNvPr>
          <p:cNvSpPr/>
          <p:nvPr/>
        </p:nvSpPr>
        <p:spPr>
          <a:xfrm>
            <a:off x="1214332" y="3909371"/>
            <a:ext cx="58963" cy="923649"/>
          </a:xfrm>
          <a:prstGeom prst="leftBracket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eft Bracket 10">
            <a:extLst>
              <a:ext uri="{FF2B5EF4-FFF2-40B4-BE49-F238E27FC236}">
                <a16:creationId xmlns:a16="http://schemas.microsoft.com/office/drawing/2014/main" id="{715C6585-C554-CB40-A049-AC593ED6291A}"/>
              </a:ext>
            </a:extLst>
          </p:cNvPr>
          <p:cNvSpPr/>
          <p:nvPr/>
        </p:nvSpPr>
        <p:spPr>
          <a:xfrm>
            <a:off x="1214333" y="601369"/>
            <a:ext cx="59582" cy="3250459"/>
          </a:xfrm>
          <a:prstGeom prst="leftBracket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8BD14C-D604-B040-AA5A-B1A666F67C2F}"/>
              </a:ext>
            </a:extLst>
          </p:cNvPr>
          <p:cNvSpPr/>
          <p:nvPr/>
        </p:nvSpPr>
        <p:spPr>
          <a:xfrm>
            <a:off x="6255" y="2083538"/>
            <a:ext cx="120868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solidFill>
                  <a:srgbClr val="000000"/>
                </a:solidFill>
              </a:rPr>
              <a:t>GENCODE v34 transcripts:</a:t>
            </a:r>
            <a:br>
              <a:rPr lang="en-US" sz="1400" dirty="0">
                <a:solidFill>
                  <a:srgbClr val="000000"/>
                </a:solidFill>
              </a:rPr>
            </a:br>
            <a:r>
              <a:rPr lang="en-US" sz="1400" i="1" dirty="0">
                <a:solidFill>
                  <a:srgbClr val="000000"/>
                </a:solidFill>
              </a:rPr>
              <a:t>CTCFL</a:t>
            </a:r>
            <a:r>
              <a:rPr lang="en-US" sz="1400" dirty="0">
                <a:solidFill>
                  <a:srgbClr val="000000"/>
                </a:solidFill>
              </a:rPr>
              <a:t> Gene</a:t>
            </a:r>
            <a:endParaRPr lang="en-US" sz="1400" dirty="0">
              <a:solidFill>
                <a:srgbClr val="000000"/>
              </a:solidFill>
              <a:effectLst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3ABC61-115B-134A-B57C-0873FE0774BF}"/>
              </a:ext>
            </a:extLst>
          </p:cNvPr>
          <p:cNvSpPr/>
          <p:nvPr/>
        </p:nvSpPr>
        <p:spPr>
          <a:xfrm>
            <a:off x="11472369" y="4895449"/>
            <a:ext cx="46698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</a:rPr>
              <a:t>N/A</a:t>
            </a:r>
            <a:endParaRPr lang="en-US" sz="1400" dirty="0">
              <a:solidFill>
                <a:srgbClr val="000000"/>
              </a:solidFill>
              <a:effectLst/>
            </a:endParaRPr>
          </a:p>
        </p:txBody>
      </p:sp>
      <p:sp>
        <p:nvSpPr>
          <p:cNvPr id="16" name="Left Bracket 15">
            <a:extLst>
              <a:ext uri="{FF2B5EF4-FFF2-40B4-BE49-F238E27FC236}">
                <a16:creationId xmlns:a16="http://schemas.microsoft.com/office/drawing/2014/main" id="{5E0B859E-2384-684E-A686-DB7B4EB7731C}"/>
              </a:ext>
            </a:extLst>
          </p:cNvPr>
          <p:cNvSpPr/>
          <p:nvPr/>
        </p:nvSpPr>
        <p:spPr>
          <a:xfrm>
            <a:off x="1214332" y="4868440"/>
            <a:ext cx="53003" cy="357323"/>
          </a:xfrm>
          <a:prstGeom prst="leftBracket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A2C3B56-EA5A-0D41-9FFE-4D6E2ABD1CE3}"/>
              </a:ext>
            </a:extLst>
          </p:cNvPr>
          <p:cNvSpPr/>
          <p:nvPr/>
        </p:nvSpPr>
        <p:spPr>
          <a:xfrm>
            <a:off x="11472369" y="5292715"/>
            <a:ext cx="4994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</a:rPr>
              <a:t>FSM</a:t>
            </a:r>
            <a:endParaRPr lang="en-US" sz="1400" dirty="0">
              <a:solidFill>
                <a:srgbClr val="000000"/>
              </a:solidFill>
              <a:effectLst/>
            </a:endParaRPr>
          </a:p>
        </p:txBody>
      </p:sp>
      <p:sp>
        <p:nvSpPr>
          <p:cNvPr id="20" name="Left Bracket 19">
            <a:extLst>
              <a:ext uri="{FF2B5EF4-FFF2-40B4-BE49-F238E27FC236}">
                <a16:creationId xmlns:a16="http://schemas.microsoft.com/office/drawing/2014/main" id="{1CE69E75-1B73-5C46-A8F5-B328D290FF4A}"/>
              </a:ext>
            </a:extLst>
          </p:cNvPr>
          <p:cNvSpPr/>
          <p:nvPr/>
        </p:nvSpPr>
        <p:spPr>
          <a:xfrm>
            <a:off x="1214333" y="5257955"/>
            <a:ext cx="45720" cy="377600"/>
          </a:xfrm>
          <a:prstGeom prst="leftBracket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A16877E-9B6F-4B4F-88C6-4FB1264FB6A2}"/>
              </a:ext>
            </a:extLst>
          </p:cNvPr>
          <p:cNvSpPr/>
          <p:nvPr/>
        </p:nvSpPr>
        <p:spPr>
          <a:xfrm>
            <a:off x="11472369" y="5604260"/>
            <a:ext cx="4994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</a:rPr>
              <a:t>FSM</a:t>
            </a:r>
            <a:endParaRPr lang="en-US" sz="1400" dirty="0">
              <a:solidFill>
                <a:srgbClr val="000000"/>
              </a:solidFill>
              <a:effectLst/>
            </a:endParaRPr>
          </a:p>
        </p:txBody>
      </p:sp>
      <p:sp>
        <p:nvSpPr>
          <p:cNvPr id="22" name="Left Bracket 21">
            <a:extLst>
              <a:ext uri="{FF2B5EF4-FFF2-40B4-BE49-F238E27FC236}">
                <a16:creationId xmlns:a16="http://schemas.microsoft.com/office/drawing/2014/main" id="{D96B7CAD-D9AF-C945-B95D-284CB28EE349}"/>
              </a:ext>
            </a:extLst>
          </p:cNvPr>
          <p:cNvSpPr/>
          <p:nvPr/>
        </p:nvSpPr>
        <p:spPr>
          <a:xfrm>
            <a:off x="1214332" y="5692007"/>
            <a:ext cx="53003" cy="920460"/>
          </a:xfrm>
          <a:prstGeom prst="leftBracket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881AB4C-5152-CF49-B2DB-851297DF79E4}"/>
              </a:ext>
            </a:extLst>
          </p:cNvPr>
          <p:cNvSpPr/>
          <p:nvPr/>
        </p:nvSpPr>
        <p:spPr>
          <a:xfrm>
            <a:off x="11472369" y="5836348"/>
            <a:ext cx="51167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</a:rPr>
              <a:t>NNC</a:t>
            </a:r>
            <a:endParaRPr lang="en-US" sz="1400" dirty="0">
              <a:solidFill>
                <a:srgbClr val="000000"/>
              </a:solidFill>
              <a:effectLst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4AE4BAB-8F0D-3640-8288-EB27554E807B}"/>
              </a:ext>
            </a:extLst>
          </p:cNvPr>
          <p:cNvSpPr/>
          <p:nvPr/>
        </p:nvSpPr>
        <p:spPr>
          <a:xfrm>
            <a:off x="6255" y="4166473"/>
            <a:ext cx="124174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 err="1"/>
              <a:t>ParRep</a:t>
            </a:r>
            <a:r>
              <a:rPr lang="en-US" sz="1400" dirty="0"/>
              <a:t> 10-230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4FD1514-C668-0649-A876-F0412295A5BC}"/>
              </a:ext>
            </a:extLst>
          </p:cNvPr>
          <p:cNvSpPr/>
          <p:nvPr/>
        </p:nvSpPr>
        <p:spPr>
          <a:xfrm>
            <a:off x="6256" y="4876226"/>
            <a:ext cx="124128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solidFill>
                  <a:srgbClr val="000000"/>
                </a:solidFill>
                <a:effectLst/>
              </a:rPr>
              <a:t>Hem-A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23C3966-5190-0D49-8234-7B6D6639E133}"/>
              </a:ext>
            </a:extLst>
          </p:cNvPr>
          <p:cNvSpPr/>
          <p:nvPr/>
        </p:nvSpPr>
        <p:spPr>
          <a:xfrm>
            <a:off x="6255" y="5284116"/>
            <a:ext cx="124128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400" dirty="0" err="1">
                <a:solidFill>
                  <a:srgbClr val="000000"/>
                </a:solidFill>
              </a:rPr>
              <a:t>Skmel</a:t>
            </a:r>
            <a:r>
              <a:rPr lang="en-US" sz="1400" dirty="0">
                <a:solidFill>
                  <a:srgbClr val="000000"/>
                </a:solidFill>
              </a:rPr>
              <a:t> 239</a:t>
            </a:r>
            <a:endParaRPr lang="en-US" sz="1400" dirty="0">
              <a:solidFill>
                <a:srgbClr val="000000"/>
              </a:solidFill>
              <a:effectLst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1C2E8BF-4CD6-9C42-9C2A-8CFFCEE204CE}"/>
              </a:ext>
            </a:extLst>
          </p:cNvPr>
          <p:cNvSpPr/>
          <p:nvPr/>
        </p:nvSpPr>
        <p:spPr>
          <a:xfrm>
            <a:off x="0" y="5998348"/>
            <a:ext cx="125379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400" dirty="0" err="1">
                <a:solidFill>
                  <a:srgbClr val="000000"/>
                </a:solidFill>
              </a:rPr>
              <a:t>hTESE</a:t>
            </a:r>
            <a:endParaRPr lang="en-US" sz="1400" dirty="0">
              <a:solidFill>
                <a:srgbClr val="000000"/>
              </a:solidFill>
              <a:effectLst/>
            </a:endParaRPr>
          </a:p>
        </p:txBody>
      </p:sp>
      <p:sp>
        <p:nvSpPr>
          <p:cNvPr id="33" name="Left Bracket 32">
            <a:extLst>
              <a:ext uri="{FF2B5EF4-FFF2-40B4-BE49-F238E27FC236}">
                <a16:creationId xmlns:a16="http://schemas.microsoft.com/office/drawing/2014/main" id="{4B3DBBD2-617B-AE40-8837-3565C4AE98C8}"/>
              </a:ext>
            </a:extLst>
          </p:cNvPr>
          <p:cNvSpPr/>
          <p:nvPr/>
        </p:nvSpPr>
        <p:spPr>
          <a:xfrm rot="10800000">
            <a:off x="11498738" y="5269354"/>
            <a:ext cx="45719" cy="357631"/>
          </a:xfrm>
          <a:prstGeom prst="leftBracket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Left Bracket 33">
            <a:extLst>
              <a:ext uri="{FF2B5EF4-FFF2-40B4-BE49-F238E27FC236}">
                <a16:creationId xmlns:a16="http://schemas.microsoft.com/office/drawing/2014/main" id="{2C51111F-AA45-8D42-9484-D7BE4E3A35E3}"/>
              </a:ext>
            </a:extLst>
          </p:cNvPr>
          <p:cNvSpPr/>
          <p:nvPr/>
        </p:nvSpPr>
        <p:spPr>
          <a:xfrm rot="10800000">
            <a:off x="11498284" y="3890794"/>
            <a:ext cx="46174" cy="427012"/>
          </a:xfrm>
          <a:prstGeom prst="leftBracket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Left Bracket 34">
            <a:extLst>
              <a:ext uri="{FF2B5EF4-FFF2-40B4-BE49-F238E27FC236}">
                <a16:creationId xmlns:a16="http://schemas.microsoft.com/office/drawing/2014/main" id="{411E82B4-B5EC-E94A-A256-E94CC66CF310}"/>
              </a:ext>
            </a:extLst>
          </p:cNvPr>
          <p:cNvSpPr/>
          <p:nvPr/>
        </p:nvSpPr>
        <p:spPr>
          <a:xfrm rot="10800000">
            <a:off x="11496116" y="4864979"/>
            <a:ext cx="48344" cy="360783"/>
          </a:xfrm>
          <a:prstGeom prst="leftBracket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Left Bracket 35">
            <a:extLst>
              <a:ext uri="{FF2B5EF4-FFF2-40B4-BE49-F238E27FC236}">
                <a16:creationId xmlns:a16="http://schemas.microsoft.com/office/drawing/2014/main" id="{8CF06583-4CF0-5844-9FD6-CBC6AEC6458F}"/>
              </a:ext>
            </a:extLst>
          </p:cNvPr>
          <p:cNvSpPr/>
          <p:nvPr/>
        </p:nvSpPr>
        <p:spPr>
          <a:xfrm rot="10800000">
            <a:off x="11497213" y="5665281"/>
            <a:ext cx="47243" cy="190002"/>
          </a:xfrm>
          <a:prstGeom prst="leftBracket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Left Bracket 36">
            <a:extLst>
              <a:ext uri="{FF2B5EF4-FFF2-40B4-BE49-F238E27FC236}">
                <a16:creationId xmlns:a16="http://schemas.microsoft.com/office/drawing/2014/main" id="{AAF191BA-84AC-3F4E-8F0A-FDCBEDA60803}"/>
              </a:ext>
            </a:extLst>
          </p:cNvPr>
          <p:cNvSpPr/>
          <p:nvPr/>
        </p:nvSpPr>
        <p:spPr>
          <a:xfrm rot="10800000">
            <a:off x="11497213" y="5885647"/>
            <a:ext cx="47243" cy="221073"/>
          </a:xfrm>
          <a:prstGeom prst="leftBracket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1C1DD11-C9D3-FF48-9F15-E553794F0D50}"/>
              </a:ext>
            </a:extLst>
          </p:cNvPr>
          <p:cNvGrpSpPr/>
          <p:nvPr/>
        </p:nvGrpSpPr>
        <p:grpSpPr>
          <a:xfrm>
            <a:off x="1285479" y="601369"/>
            <a:ext cx="10186890" cy="6060290"/>
            <a:chOff x="1279224" y="-949974"/>
            <a:chExt cx="10236120" cy="7107138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D1224E31-434D-ED4E-B70F-2C49F1082A9C}"/>
                </a:ext>
              </a:extLst>
            </p:cNvPr>
            <p:cNvGrpSpPr/>
            <p:nvPr/>
          </p:nvGrpSpPr>
          <p:grpSpPr>
            <a:xfrm>
              <a:off x="1279224" y="2894005"/>
              <a:ext cx="10236120" cy="3263159"/>
              <a:chOff x="1158105" y="95693"/>
              <a:chExt cx="10236120" cy="3263159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50ED2257-5255-A348-BF75-7C560F63C32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62944" b="27649"/>
              <a:stretch/>
            </p:blipFill>
            <p:spPr>
              <a:xfrm>
                <a:off x="1158105" y="95693"/>
                <a:ext cx="10224500" cy="584791"/>
              </a:xfrm>
              <a:prstGeom prst="rect">
                <a:avLst/>
              </a:prstGeom>
            </p:spPr>
          </p:pic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C2BFC521-3470-D746-A217-5F2A50E496E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72123" b="19325"/>
              <a:stretch/>
            </p:blipFill>
            <p:spPr>
              <a:xfrm>
                <a:off x="1158105" y="1236035"/>
                <a:ext cx="10224500" cy="531629"/>
              </a:xfrm>
              <a:prstGeom prst="rect">
                <a:avLst/>
              </a:prstGeom>
            </p:spPr>
          </p:pic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0581758D-58F3-4145-BF28-59E07EBB7CD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80619" b="9461"/>
              <a:stretch/>
            </p:blipFill>
            <p:spPr>
              <a:xfrm>
                <a:off x="1158105" y="1674921"/>
                <a:ext cx="10224500" cy="616688"/>
              </a:xfrm>
              <a:prstGeom prst="rect">
                <a:avLst/>
              </a:prstGeom>
            </p:spPr>
          </p:pic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27198354-0598-B74D-BD35-594DAC938A3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90080" b="282"/>
              <a:stretch/>
            </p:blipFill>
            <p:spPr>
              <a:xfrm>
                <a:off x="1158105" y="2166678"/>
                <a:ext cx="10224500" cy="599192"/>
              </a:xfrm>
              <a:prstGeom prst="rect">
                <a:avLst/>
              </a:prstGeom>
            </p:spPr>
          </p:pic>
          <p:pic>
            <p:nvPicPr>
              <p:cNvPr id="38" name="Picture 37">
                <a:extLst>
                  <a:ext uri="{FF2B5EF4-FFF2-40B4-BE49-F238E27FC236}">
                    <a16:creationId xmlns:a16="http://schemas.microsoft.com/office/drawing/2014/main" id="{C5726B73-9732-EA47-B52B-489CA820A2B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t="62977" b="27335"/>
              <a:stretch/>
            </p:blipFill>
            <p:spPr>
              <a:xfrm>
                <a:off x="1158105" y="680484"/>
                <a:ext cx="10236120" cy="595423"/>
              </a:xfrm>
              <a:prstGeom prst="rect">
                <a:avLst/>
              </a:prstGeom>
            </p:spPr>
          </p:pic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2E45CF4A-D51F-9E4F-A8B4-A6EF60D511F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t="89127"/>
              <a:stretch/>
            </p:blipFill>
            <p:spPr>
              <a:xfrm>
                <a:off x="1158105" y="2690623"/>
                <a:ext cx="10236120" cy="668229"/>
              </a:xfrm>
              <a:prstGeom prst="rect">
                <a:avLst/>
              </a:prstGeom>
            </p:spPr>
          </p:pic>
        </p:grp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BDD30C78-7B22-7140-BCC9-13C49897C3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36840"/>
            <a:stretch/>
          </p:blipFill>
          <p:spPr>
            <a:xfrm>
              <a:off x="1279224" y="-949974"/>
              <a:ext cx="10236120" cy="3881684"/>
            </a:xfrm>
            <a:prstGeom prst="rect">
              <a:avLst/>
            </a:prstGeom>
          </p:spPr>
        </p:pic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04FA1F6D-63BC-8B44-8B09-C435F25F826B}"/>
              </a:ext>
            </a:extLst>
          </p:cNvPr>
          <p:cNvSpPr/>
          <p:nvPr/>
        </p:nvSpPr>
        <p:spPr>
          <a:xfrm>
            <a:off x="11472369" y="4478710"/>
            <a:ext cx="86645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</a:rPr>
              <a:t>Singleton</a:t>
            </a:r>
            <a:endParaRPr lang="en-US" sz="1400" dirty="0">
              <a:solidFill>
                <a:srgbClr val="000000"/>
              </a:solidFill>
              <a:effectLst/>
            </a:endParaRPr>
          </a:p>
        </p:txBody>
      </p:sp>
      <p:sp>
        <p:nvSpPr>
          <p:cNvPr id="42" name="Left Bracket 41">
            <a:extLst>
              <a:ext uri="{FF2B5EF4-FFF2-40B4-BE49-F238E27FC236}">
                <a16:creationId xmlns:a16="http://schemas.microsoft.com/office/drawing/2014/main" id="{EBD1969E-DFA1-9540-828A-8F0200CAA070}"/>
              </a:ext>
            </a:extLst>
          </p:cNvPr>
          <p:cNvSpPr/>
          <p:nvPr/>
        </p:nvSpPr>
        <p:spPr>
          <a:xfrm rot="10800000">
            <a:off x="11498284" y="4368125"/>
            <a:ext cx="48555" cy="450867"/>
          </a:xfrm>
          <a:prstGeom prst="leftBracket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4A3E887-FB0A-9545-9F69-6DAC6B091924}"/>
              </a:ext>
            </a:extLst>
          </p:cNvPr>
          <p:cNvSpPr/>
          <p:nvPr/>
        </p:nvSpPr>
        <p:spPr>
          <a:xfrm>
            <a:off x="11472369" y="6222324"/>
            <a:ext cx="86645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</a:rPr>
              <a:t>Singleton</a:t>
            </a:r>
            <a:endParaRPr lang="en-US" sz="1400" dirty="0">
              <a:solidFill>
                <a:srgbClr val="000000"/>
              </a:solidFill>
              <a:effectLst/>
            </a:endParaRPr>
          </a:p>
        </p:txBody>
      </p:sp>
      <p:sp>
        <p:nvSpPr>
          <p:cNvPr id="46" name="Left Bracket 45">
            <a:extLst>
              <a:ext uri="{FF2B5EF4-FFF2-40B4-BE49-F238E27FC236}">
                <a16:creationId xmlns:a16="http://schemas.microsoft.com/office/drawing/2014/main" id="{38B8881D-08E0-A94C-B460-5019B7EAA74A}"/>
              </a:ext>
            </a:extLst>
          </p:cNvPr>
          <p:cNvSpPr/>
          <p:nvPr/>
        </p:nvSpPr>
        <p:spPr>
          <a:xfrm rot="10800000">
            <a:off x="11497213" y="6161600"/>
            <a:ext cx="48555" cy="450867"/>
          </a:xfrm>
          <a:prstGeom prst="leftBracket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6AC76B-E090-8240-8910-098A37B6CE91}"/>
              </a:ext>
            </a:extLst>
          </p:cNvPr>
          <p:cNvSpPr/>
          <p:nvPr/>
        </p:nvSpPr>
        <p:spPr>
          <a:xfrm>
            <a:off x="3940324" y="5858882"/>
            <a:ext cx="120650" cy="1430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64B1318-C99F-CC4A-806B-9CD50945B3A1}"/>
              </a:ext>
            </a:extLst>
          </p:cNvPr>
          <p:cNvSpPr/>
          <p:nvPr/>
        </p:nvSpPr>
        <p:spPr>
          <a:xfrm>
            <a:off x="2165499" y="3948133"/>
            <a:ext cx="120650" cy="1430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itle 1">
            <a:extLst>
              <a:ext uri="{FF2B5EF4-FFF2-40B4-BE49-F238E27FC236}">
                <a16:creationId xmlns:a16="http://schemas.microsoft.com/office/drawing/2014/main" id="{41364BAF-262C-874F-BAF0-FB64CCF13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537498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000000"/>
                </a:solidFill>
                <a:latin typeface="Helvetica Neue" panose="02000503000000020004" pitchFamily="2" charset="0"/>
              </a:rPr>
              <a:t>CTCFL gene: HQ and Singleton data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467427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E540EE0-D108-2D44-ACC8-0B4C7E489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537498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000000"/>
                </a:solidFill>
                <a:latin typeface="Helvetica Neue" panose="02000503000000020004" pitchFamily="2" charset="0"/>
              </a:rPr>
              <a:t>HQ Data: </a:t>
            </a:r>
            <a:r>
              <a:rPr lang="en-US" sz="3200" dirty="0" err="1">
                <a:solidFill>
                  <a:srgbClr val="000000"/>
                </a:solidFill>
                <a:latin typeface="Helvetica Neue" panose="02000503000000020004" pitchFamily="2" charset="0"/>
              </a:rPr>
              <a:t>ParRep</a:t>
            </a:r>
            <a:r>
              <a:rPr lang="en-US" sz="3200" dirty="0">
                <a:solidFill>
                  <a:srgbClr val="000000"/>
                </a:solidFill>
                <a:latin typeface="Helvetica Neue" panose="02000503000000020004" pitchFamily="2" charset="0"/>
              </a:rPr>
              <a:t> CTCFL 3-bp deletion</a:t>
            </a:r>
            <a:endParaRPr lang="en-US" sz="3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5185343-5D4F-DE41-9649-E0848AF4E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7499"/>
            <a:ext cx="12192000" cy="572086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1D4C1B8-F9E6-2648-93F1-4F9FB4C248B9}"/>
              </a:ext>
            </a:extLst>
          </p:cNvPr>
          <p:cNvSpPr/>
          <p:nvPr/>
        </p:nvSpPr>
        <p:spPr>
          <a:xfrm>
            <a:off x="7903779" y="1808065"/>
            <a:ext cx="546538" cy="182851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342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C7BA6-0233-2F4F-838E-6A96AF020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0524"/>
            <a:ext cx="10515600" cy="5136439"/>
          </a:xfrm>
        </p:spPr>
        <p:txBody>
          <a:bodyPr/>
          <a:lstStyle/>
          <a:p>
            <a:r>
              <a:rPr lang="en-US" dirty="0" err="1"/>
              <a:t>Iso-Seq</a:t>
            </a:r>
            <a:r>
              <a:rPr lang="en-US" dirty="0"/>
              <a:t> HQ data: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Convert </a:t>
            </a:r>
            <a:r>
              <a:rPr lang="en-US" dirty="0" err="1"/>
              <a:t>Ensembl</a:t>
            </a:r>
            <a:r>
              <a:rPr lang="en-US" dirty="0"/>
              <a:t> ID’s to Gene symbols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Compare top 10 gene isoforms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CTCFL NNC isoforms sequence analysis</a:t>
            </a:r>
          </a:p>
        </p:txBody>
      </p:sp>
    </p:spTree>
    <p:extLst>
      <p:ext uri="{BB962C8B-B14F-4D97-AF65-F5344CB8AC3E}">
        <p14:creationId xmlns:p14="http://schemas.microsoft.com/office/powerpoint/2010/main" val="3453283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C415C0E-1426-C943-9944-FC09BF151B72}"/>
              </a:ext>
            </a:extLst>
          </p:cNvPr>
          <p:cNvSpPr/>
          <p:nvPr/>
        </p:nvSpPr>
        <p:spPr>
          <a:xfrm>
            <a:off x="116920" y="948559"/>
            <a:ext cx="2280745" cy="51500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Clustered HQ FASTA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EF673C-8755-0E46-BECE-9CA8170E11D2}"/>
              </a:ext>
            </a:extLst>
          </p:cNvPr>
          <p:cNvSpPr/>
          <p:nvPr/>
        </p:nvSpPr>
        <p:spPr>
          <a:xfrm>
            <a:off x="116920" y="1836683"/>
            <a:ext cx="2268927" cy="51500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Alignment (minimap2)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655E38-CBA3-824E-A2DB-B2D9150353DF}"/>
              </a:ext>
            </a:extLst>
          </p:cNvPr>
          <p:cNvSpPr/>
          <p:nvPr/>
        </p:nvSpPr>
        <p:spPr>
          <a:xfrm>
            <a:off x="116920" y="2724807"/>
            <a:ext cx="2268927" cy="51500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Sort SAM (</a:t>
            </a:r>
            <a:r>
              <a:rPr lang="en-US" dirty="0" err="1"/>
              <a:t>samtools</a:t>
            </a:r>
            <a:r>
              <a:rPr lang="en-US" dirty="0"/>
              <a:t>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601884-7DEE-CA4F-A4C4-21F92928B4EE}"/>
              </a:ext>
            </a:extLst>
          </p:cNvPr>
          <p:cNvSpPr/>
          <p:nvPr/>
        </p:nvSpPr>
        <p:spPr>
          <a:xfrm>
            <a:off x="116919" y="3612931"/>
            <a:ext cx="2268927" cy="51500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Collapse Isoforms (</a:t>
            </a:r>
            <a:r>
              <a:rPr lang="en-US" dirty="0" err="1"/>
              <a:t>cDNA_Cupcake</a:t>
            </a:r>
            <a:r>
              <a:rPr lang="en-US" dirty="0"/>
              <a:t>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676E51-92CE-364F-A8A6-583C00D5B98B}"/>
              </a:ext>
            </a:extLst>
          </p:cNvPr>
          <p:cNvSpPr/>
          <p:nvPr/>
        </p:nvSpPr>
        <p:spPr>
          <a:xfrm>
            <a:off x="116920" y="4501055"/>
            <a:ext cx="2268926" cy="51500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SQANTI3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9EA6F9E-6D39-FE41-BC70-F867C8B429AB}"/>
              </a:ext>
            </a:extLst>
          </p:cNvPr>
          <p:cNvCxnSpPr/>
          <p:nvPr/>
        </p:nvCxnSpPr>
        <p:spPr>
          <a:xfrm>
            <a:off x="1393927" y="2351690"/>
            <a:ext cx="0" cy="346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D2BAB22-31A7-EB41-A9AB-BBDA6800CFAA}"/>
              </a:ext>
            </a:extLst>
          </p:cNvPr>
          <p:cNvCxnSpPr/>
          <p:nvPr/>
        </p:nvCxnSpPr>
        <p:spPr>
          <a:xfrm>
            <a:off x="1393927" y="3239814"/>
            <a:ext cx="0" cy="346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6A78B7F-046D-3343-BE33-7E5F43E5F679}"/>
              </a:ext>
            </a:extLst>
          </p:cNvPr>
          <p:cNvCxnSpPr/>
          <p:nvPr/>
        </p:nvCxnSpPr>
        <p:spPr>
          <a:xfrm>
            <a:off x="1393927" y="4127938"/>
            <a:ext cx="0" cy="346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CB774A8-0B70-0449-A090-9DAA13AF777E}"/>
              </a:ext>
            </a:extLst>
          </p:cNvPr>
          <p:cNvCxnSpPr>
            <a:cxnSpLocks/>
          </p:cNvCxnSpPr>
          <p:nvPr/>
        </p:nvCxnSpPr>
        <p:spPr>
          <a:xfrm>
            <a:off x="2397665" y="2106590"/>
            <a:ext cx="3783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9B30D68B-3D12-DE4E-AF60-98E64C98CC25}"/>
              </a:ext>
            </a:extLst>
          </p:cNvPr>
          <p:cNvSpPr/>
          <p:nvPr/>
        </p:nvSpPr>
        <p:spPr>
          <a:xfrm>
            <a:off x="2852296" y="1916669"/>
            <a:ext cx="6190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SAM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E45FAD8-AC92-1D47-B243-1B9F1067A903}"/>
              </a:ext>
            </a:extLst>
          </p:cNvPr>
          <p:cNvCxnSpPr>
            <a:cxnSpLocks/>
          </p:cNvCxnSpPr>
          <p:nvPr/>
        </p:nvCxnSpPr>
        <p:spPr>
          <a:xfrm>
            <a:off x="2397665" y="2989459"/>
            <a:ext cx="3783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6BAE6AF9-28A2-9C4D-9109-F5F39AF16A34}"/>
              </a:ext>
            </a:extLst>
          </p:cNvPr>
          <p:cNvSpPr/>
          <p:nvPr/>
        </p:nvSpPr>
        <p:spPr>
          <a:xfrm>
            <a:off x="2825622" y="2804792"/>
            <a:ext cx="129137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Sorted SAM</a:t>
            </a:r>
            <a:br>
              <a:rPr lang="en-US" dirty="0"/>
            </a:br>
            <a:r>
              <a:rPr lang="en-US" dirty="0"/>
              <a:t>&amp; BAM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351FDF3-316C-584A-8213-2B97D6C0C7C0}"/>
              </a:ext>
            </a:extLst>
          </p:cNvPr>
          <p:cNvCxnSpPr>
            <a:cxnSpLocks/>
          </p:cNvCxnSpPr>
          <p:nvPr/>
        </p:nvCxnSpPr>
        <p:spPr>
          <a:xfrm>
            <a:off x="2397665" y="3877583"/>
            <a:ext cx="3783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01EBEA0F-ED7C-044B-8CDE-6935C2A88B7E}"/>
              </a:ext>
            </a:extLst>
          </p:cNvPr>
          <p:cNvSpPr/>
          <p:nvPr/>
        </p:nvSpPr>
        <p:spPr>
          <a:xfrm>
            <a:off x="2825622" y="3692917"/>
            <a:ext cx="17636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Collapsed FASTA,</a:t>
            </a:r>
            <a:br>
              <a:rPr lang="en-US" dirty="0"/>
            </a:br>
            <a:r>
              <a:rPr lang="en-US" dirty="0"/>
              <a:t>GFF &amp; GTF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995D560-42AB-2342-A9D9-AA3571CC13D3}"/>
              </a:ext>
            </a:extLst>
          </p:cNvPr>
          <p:cNvCxnSpPr/>
          <p:nvPr/>
        </p:nvCxnSpPr>
        <p:spPr>
          <a:xfrm>
            <a:off x="1393927" y="5016062"/>
            <a:ext cx="0" cy="346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CE00369E-4B65-CE44-8F49-D2D44AF5050E}"/>
              </a:ext>
            </a:extLst>
          </p:cNvPr>
          <p:cNvSpPr/>
          <p:nvPr/>
        </p:nvSpPr>
        <p:spPr>
          <a:xfrm>
            <a:off x="116920" y="5389179"/>
            <a:ext cx="2268926" cy="51500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IsoAnnot</a:t>
            </a:r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D36D4BE-BF53-724B-88C7-DDE1CB8B9394}"/>
              </a:ext>
            </a:extLst>
          </p:cNvPr>
          <p:cNvCxnSpPr/>
          <p:nvPr/>
        </p:nvCxnSpPr>
        <p:spPr>
          <a:xfrm>
            <a:off x="1393927" y="5904186"/>
            <a:ext cx="0" cy="346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89ADF715-3533-4945-AB89-846DFE304E6E}"/>
              </a:ext>
            </a:extLst>
          </p:cNvPr>
          <p:cNvSpPr/>
          <p:nvPr/>
        </p:nvSpPr>
        <p:spPr>
          <a:xfrm>
            <a:off x="116920" y="6256658"/>
            <a:ext cx="2268926" cy="51500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tappAS</a:t>
            </a:r>
            <a:endParaRPr lang="en-US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B898C9D-8DA4-0549-A8EA-3681077A1EA3}"/>
              </a:ext>
            </a:extLst>
          </p:cNvPr>
          <p:cNvCxnSpPr/>
          <p:nvPr/>
        </p:nvCxnSpPr>
        <p:spPr>
          <a:xfrm>
            <a:off x="1384723" y="1489841"/>
            <a:ext cx="0" cy="346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935DA279-8985-6C43-971A-403DDD101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8831" y="948559"/>
            <a:ext cx="7479510" cy="510277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3" name="Title 1">
            <a:extLst>
              <a:ext uri="{FF2B5EF4-FFF2-40B4-BE49-F238E27FC236}">
                <a16:creationId xmlns:a16="http://schemas.microsoft.com/office/drawing/2014/main" id="{5C0A96F0-5AEB-8846-9ABD-6A3F6ACDE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537498"/>
          </a:xfrm>
        </p:spPr>
        <p:txBody>
          <a:bodyPr>
            <a:normAutofit/>
          </a:bodyPr>
          <a:lstStyle/>
          <a:p>
            <a:pPr algn="ctr"/>
            <a:r>
              <a:rPr lang="en-US" sz="3200" dirty="0" err="1">
                <a:solidFill>
                  <a:srgbClr val="000000"/>
                </a:solidFill>
                <a:latin typeface="Helvetica Neue" panose="02000503000000020004" pitchFamily="2" charset="0"/>
              </a:rPr>
              <a:t>Iso-Seq</a:t>
            </a:r>
            <a:r>
              <a:rPr lang="en-US" sz="3200" dirty="0">
                <a:solidFill>
                  <a:srgbClr val="000000"/>
                </a:solidFill>
                <a:latin typeface="Helvetica Neue" panose="02000503000000020004" pitchFamily="2" charset="0"/>
              </a:rPr>
              <a:t> Data Analysis Workflow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373013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5184</TotalTime>
  <Words>121</Words>
  <Application>Microsoft Macintosh PowerPoint</Application>
  <PresentationFormat>Widescreen</PresentationFormat>
  <Paragraphs>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Helvetica Neue</vt:lpstr>
      <vt:lpstr>Office Theme</vt:lpstr>
      <vt:lpstr>PowerPoint Presentation</vt:lpstr>
      <vt:lpstr>PowerPoint Presentation</vt:lpstr>
      <vt:lpstr>PowerPoint Presentation</vt:lpstr>
      <vt:lpstr>CTCFL gene: HQ and Singleton data</vt:lpstr>
      <vt:lpstr>HQ Data: ParRep CTCFL 3-bp deletion</vt:lpstr>
      <vt:lpstr>PowerPoint Presentation</vt:lpstr>
      <vt:lpstr>Iso-Seq Data Analysis Workflow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141</cp:revision>
  <dcterms:created xsi:type="dcterms:W3CDTF">2020-07-08T12:33:48Z</dcterms:created>
  <dcterms:modified xsi:type="dcterms:W3CDTF">2020-07-22T13:54:40Z</dcterms:modified>
</cp:coreProperties>
</file>